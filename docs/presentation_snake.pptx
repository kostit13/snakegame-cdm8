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7" r:id="rId12"/>
    <p:sldId id="266" r:id="rId13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92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99611" y="18392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Snake Game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272166" y="2424534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Курсовой проект по цифровой логике и ассемблеру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47943" y="4789203"/>
            <a:ext cx="155793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26A6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5896" y="4836457"/>
            <a:ext cx="18354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НГУ · КУРСОВОЙ ПРОЕКТ</a:t>
            </a:r>
            <a:endParaRPr lang="en-US" sz="8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3DA545-8087-59A0-6E52-93D8FDC7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854" y="4829131"/>
            <a:ext cx="1790950" cy="314369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54603DE-B7D0-F793-7371-785674004AF0}"/>
              </a:ext>
            </a:extLst>
          </p:cNvPr>
          <p:cNvSpPr/>
          <p:nvPr/>
        </p:nvSpPr>
        <p:spPr>
          <a:xfrm>
            <a:off x="6994929" y="3325462"/>
            <a:ext cx="2513194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25946 группа</a:t>
            </a:r>
            <a:b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Баландин Константин</a:t>
            </a:r>
            <a:b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Адуев Егор</a:t>
            </a:r>
            <a:b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ru-RU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Шевченко Андрей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48941" y="144111"/>
            <a:ext cx="47502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Описание проекта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9881" y="878184"/>
            <a:ext cx="4718001" cy="1346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Мы реализовали классическую игру Snake в рамках курсового проекта, разделив систему на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аппаратную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программную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части. Цель — продемонстрировать взаимодействие процессора с периферией на уровне логических схем.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925119" y="2384450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2389212"/>
            <a:ext cx="4713238" cy="1043657"/>
          </a:xfrm>
          <a:prstGeom prst="roundRect">
            <a:avLst>
              <a:gd name="adj" fmla="val 5705"/>
            </a:avLst>
          </a:pr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2530971"/>
            <a:ext cx="2756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Hardware — Logisim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83748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Цифровые схемы: дисплей 16×16, обработка ввода с клавиатуры, управление игровыми объектами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29881" y="3432870"/>
            <a:ext cx="4713238" cy="1043657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3929881" y="3432870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11" name="Text 8"/>
          <p:cNvSpPr/>
          <p:nvPr/>
        </p:nvSpPr>
        <p:spPr>
          <a:xfrm>
            <a:off x="4071640" y="3574628"/>
            <a:ext cx="37669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Software — Assembler CMD8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881140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Программа для процессора CDM-8 Mark 4: логика движения змеи, генерация яблок, чтение ввода</a:t>
            </a:r>
            <a:endParaRPr lang="en-US" sz="11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203E205-2497-E215-BF69-9B5569881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050" y="4790448"/>
            <a:ext cx="1790950" cy="314369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87A744D-D977-CF12-79C7-7790F47B3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24" y="794825"/>
            <a:ext cx="3796084" cy="37960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1190"/>
            <a:ext cx="36469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Главный экран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71" y="981577"/>
            <a:ext cx="4026159" cy="3561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8432" y="1171277"/>
            <a:ext cx="3087708" cy="586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Дисплей 16×16 пикселей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01792" y="1526345"/>
            <a:ext cx="2650778" cy="73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Игровое поле реализовано как матрица 16×16 пикселей. На экране отображаются</a:t>
            </a: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08432" y="2345755"/>
            <a:ext cx="2650778" cy="239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Змея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цепочка светящихся пикселей, управляемая игроком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Яблоко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цель, которую нужно поймать для роста змеи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Счётчик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количество съеденных яблок в реальном времени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Кнопка активации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включает клавиатуру для управления направлением</a:t>
            </a:r>
            <a:endParaRPr lang="en-US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8C46D6-DECA-16B0-3B4C-8B29AAB0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81" y="4829131"/>
            <a:ext cx="1790950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75506"/>
            <a:ext cx="768823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Архитектура аппаратной части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86309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состоит </a:t>
            </a:r>
            <a:r>
              <a:rPr lang="en-US" sz="12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пяти</a:t>
            </a:r>
            <a:r>
              <a:rPr lang="ru-RU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основных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взаимосвязанных схем в Logisim. Каждая отвечает за свой уровень: от управления игрой до физического подключения процессора.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379" y="1783705"/>
            <a:ext cx="279053" cy="2790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379" y="223443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Game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8379" y="2534841"/>
            <a:ext cx="260791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Центральный модуль: координирует все компоненты, управляет состоянием игры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7968" y="1783705"/>
            <a:ext cx="279053" cy="2790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7968" y="223443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Movement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67968" y="2534841"/>
            <a:ext cx="26079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Вычисляет новые координаты головы и хвоста змеи каждый такт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7631" y="1783705"/>
            <a:ext cx="279053" cy="2790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7631" y="223443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DataScreen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047631" y="2534841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Рендеринг игрового поля на матрице 16×16 пикселей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379" y="3473946"/>
            <a:ext cx="279053" cy="2790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8379" y="392467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Keyboard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88379" y="4225082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Обработка нажатий клавиш и передача направления процессору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7968" y="3473946"/>
            <a:ext cx="279053" cy="2790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7968" y="392467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CDM-8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67968" y="4225082"/>
            <a:ext cx="26079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Интерфейс подключения процессора CDM-8 Mark 4 к схемам Logisim</a:t>
            </a:r>
            <a:endParaRPr lang="en-US" sz="12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6EA75E9-3BB0-C293-CACA-965E875685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3696" y="4812426"/>
            <a:ext cx="1790950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152" y="461070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Схема Game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28" y="1106388"/>
            <a:ext cx="4922323" cy="38572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0043" y="1203579"/>
            <a:ext cx="3472388" cy="64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Центральный модуль игры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90555" y="1596824"/>
            <a:ext cx="266201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Схема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Game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главный координатор всей системы. Она связывает воедино: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90555" y="2398663"/>
            <a:ext cx="2662014" cy="117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Модуль движения змеи (Movement)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Дисплей (DataScreen) для отрисовки кадра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Обработчик ввода (Keyboard)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Процессор CDM-8 для выполнения игровой логики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0555" y="4024536"/>
            <a:ext cx="266201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Модуль также отслеживает столкновения и управляет общим состоянием игры.</a:t>
            </a:r>
            <a:endParaRPr lang="en-US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AB9CAE-1763-E84D-C31B-A89B6DC2D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50" y="4770903"/>
            <a:ext cx="1790950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44164A-1448-4377-8CDB-B75431E5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69" y="4513091"/>
            <a:ext cx="2333951" cy="552527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B402859-ECF0-E245-D723-7CA220E689E3}"/>
              </a:ext>
            </a:extLst>
          </p:cNvPr>
          <p:cNvSpPr/>
          <p:nvPr/>
        </p:nvSpPr>
        <p:spPr>
          <a:xfrm>
            <a:off x="2500765" y="158615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 err="1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Схем</a:t>
            </a:r>
            <a:r>
              <a:rPr lang="ru-RU" sz="2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ы управления клавиатурой</a:t>
            </a:r>
            <a:endParaRPr lang="en-US" sz="23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D9F887-404B-591B-FF4B-84A2718BA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60" y="1023107"/>
            <a:ext cx="3941637" cy="18185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3CFACE-9CF5-F1A3-F56D-A537D1677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335" y="1216724"/>
            <a:ext cx="3876277" cy="1355026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B349B41-00C3-4264-4625-D7BCF9430EAE}"/>
              </a:ext>
            </a:extLst>
          </p:cNvPr>
          <p:cNvSpPr/>
          <p:nvPr/>
        </p:nvSpPr>
        <p:spPr>
          <a:xfrm>
            <a:off x="360131" y="2953096"/>
            <a:ext cx="3058318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1600" b="1" dirty="0">
                <a:solidFill>
                  <a:srgbClr val="333F70"/>
                </a:solidFill>
                <a:ea typeface="Unbounded Bold" pitchFamily="34" charset="-122"/>
              </a:rPr>
              <a:t>Модуль </a:t>
            </a:r>
            <a:r>
              <a:rPr lang="en-US" sz="1600" b="1" dirty="0">
                <a:solidFill>
                  <a:srgbClr val="333F70"/>
                </a:solidFill>
                <a:ea typeface="Unbounded Bold" pitchFamily="34" charset="-122"/>
              </a:rPr>
              <a:t>Keyboard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1600" b="1" dirty="0">
              <a:solidFill>
                <a:srgbClr val="333F70"/>
              </a:solidFill>
              <a:ea typeface="Unbounded Bold" pitchFamily="34" charset="-122"/>
            </a:endParaRPr>
          </a:p>
          <a:p>
            <a:r>
              <a:rPr lang="ru-RU" sz="1400" dirty="0">
                <a:solidFill>
                  <a:srgbClr val="002060"/>
                </a:solidFill>
                <a:cs typeface="Times New Roman" panose="02020603050405020304" pitchFamily="18" charset="0"/>
              </a:rPr>
              <a:t>Принимает ASCII-код нажатой клавиши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2060"/>
                </a:solidFill>
                <a:cs typeface="Times New Roman" panose="02020603050405020304" pitchFamily="18" charset="0"/>
              </a:rPr>
              <a:t>Распознаёт W/w, A/a, S/s, D/d (строчные и заглавные)</a:t>
            </a:r>
          </a:p>
          <a:p>
            <a:endParaRPr lang="en-US" sz="14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2060"/>
                </a:solidFill>
                <a:cs typeface="Times New Roman" panose="02020603050405020304" pitchFamily="18" charset="0"/>
              </a:rPr>
              <a:t>На выходе - 2-битный код направления: </a:t>
            </a:r>
          </a:p>
          <a:p>
            <a:r>
              <a:rPr lang="ru-RU" sz="1400" dirty="0">
                <a:solidFill>
                  <a:srgbClr val="002060"/>
                </a:solidFill>
                <a:cs typeface="Times New Roman" panose="02020603050405020304" pitchFamily="18" charset="0"/>
              </a:rPr>
              <a:t>00 = вверх, 01 = влево, 10 = вниз, 11 = вправо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AB88AEE-E274-E59E-742A-CA3C05F71380}"/>
              </a:ext>
            </a:extLst>
          </p:cNvPr>
          <p:cNvSpPr/>
          <p:nvPr/>
        </p:nvSpPr>
        <p:spPr>
          <a:xfrm>
            <a:off x="4581987" y="2841674"/>
            <a:ext cx="4414302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ru-RU" sz="1600" b="1" dirty="0">
                <a:solidFill>
                  <a:srgbClr val="333F70"/>
                </a:solidFill>
                <a:ea typeface="Unbounded Bold" pitchFamily="34" charset="-122"/>
              </a:rPr>
              <a:t>Модуль </a:t>
            </a:r>
            <a:r>
              <a:rPr lang="en-US" sz="1600" b="1" dirty="0" err="1">
                <a:solidFill>
                  <a:srgbClr val="333F70"/>
                </a:solidFill>
                <a:ea typeface="Unbounded Bold" pitchFamily="34" charset="-122"/>
              </a:rPr>
              <a:t>EditKeyboardKeys</a:t>
            </a:r>
            <a:endParaRPr lang="en-US" sz="1600" b="1" dirty="0">
              <a:solidFill>
                <a:srgbClr val="333F70"/>
              </a:solidFill>
              <a:ea typeface="Unbounded Bold" pitchFamily="34" charset="-122"/>
            </a:endParaRP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Модуль фильтрации ввода – защищает от разворота змейки на 180°</a:t>
            </a:r>
          </a:p>
          <a:p>
            <a:endParaRPr lang="ru-RU" sz="12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На вход мы получаем новое направление от </a:t>
            </a:r>
            <a:r>
              <a:rPr lang="en-US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Keyboard + </a:t>
            </a: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текущее направление из регистра </a:t>
            </a:r>
            <a:r>
              <a:rPr lang="en-US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State</a:t>
            </a:r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.</a:t>
            </a: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Сравниваем новое направление с противоположным </a:t>
            </a: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текущему – если совпадает, значит нажатие </a:t>
            </a: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игнорируем: змейка идёт вправо - нажатие влево не проходит.</a:t>
            </a:r>
          </a:p>
          <a:p>
            <a:endParaRPr lang="ru-RU" sz="12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В случае корректного направления – сохраняется в регистр </a:t>
            </a:r>
            <a:r>
              <a:rPr lang="en-US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State </a:t>
            </a:r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и </a:t>
            </a:r>
            <a:endParaRPr lang="en-US" sz="12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ru-RU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передается в модуль </a:t>
            </a:r>
            <a:r>
              <a:rPr lang="en-US" sz="1200" dirty="0">
                <a:solidFill>
                  <a:srgbClr val="002060"/>
                </a:solidFill>
                <a:cs typeface="Times New Roman" panose="02020603050405020304" pitchFamily="18" charset="0"/>
              </a:rPr>
              <a:t>Movement.</a:t>
            </a:r>
            <a:endParaRPr lang="ru-RU" sz="12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284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786" y="294459"/>
            <a:ext cx="422299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Схема Movement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21" y="905614"/>
            <a:ext cx="4653822" cy="2224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16950" y="504902"/>
            <a:ext cx="220920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Движение змеи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31161" y="859827"/>
            <a:ext cx="2639467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Схема </a:t>
            </a: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Movement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отвечает за обновление координат змеи на каждом такте: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16950" y="1490040"/>
            <a:ext cx="2639467" cy="181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Чтение текущего направления из памяти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Вычисление новых координат головы (X, Y)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Сдвиг хвоста: удаление последнего сегмента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границ поля и столкновений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56957" y="3130121"/>
            <a:ext cx="2639467" cy="1871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поимке яблока хвост не удаляется — змея растёт на один </a:t>
            </a:r>
            <a:r>
              <a:rPr lang="en-US" sz="10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сегмент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ru-RU" sz="105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ru-RU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Блок работы с </a:t>
            </a: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RAM 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– </a:t>
            </a:r>
            <a:r>
              <a:rPr lang="ru-RU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сохраняет направление для корректного движения хвоста</a:t>
            </a:r>
            <a:endParaRPr lang="en-US" sz="105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0000"/>
              </a:lnSpc>
            </a:pPr>
            <a:r>
              <a:rPr lang="ru-RU" sz="105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 помощью схемы </a:t>
            </a:r>
            <a:r>
              <a:rPr lang="en-US" sz="1050" b="1" dirty="0" err="1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ChangingCoordinates</a:t>
            </a:r>
            <a:r>
              <a:rPr lang="en-US" sz="105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05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вычисляются новые координаты по направлению.</a:t>
            </a:r>
          </a:p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C112C3-65A6-5E7E-729F-5837EF82D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833" y="4829131"/>
            <a:ext cx="1790950" cy="3143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D9920D-61A5-2BAE-1E24-6C95AA9B8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694" y="2410620"/>
            <a:ext cx="2808830" cy="17723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DEDD7E-E33C-431B-3CA4-5B222479A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40" y="2359187"/>
            <a:ext cx="1565270" cy="2642664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8DF64ECC-6EFB-F7C9-F708-7A0BE21EC387}"/>
              </a:ext>
            </a:extLst>
          </p:cNvPr>
          <p:cNvSpPr/>
          <p:nvPr/>
        </p:nvSpPr>
        <p:spPr>
          <a:xfrm>
            <a:off x="136779" y="1958549"/>
            <a:ext cx="220920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b="1" dirty="0">
                <a:solidFill>
                  <a:srgbClr val="333F70"/>
                </a:solidFill>
                <a:ea typeface="Unbounded Bold" pitchFamily="34" charset="-122"/>
              </a:rPr>
              <a:t>Блок работы с </a:t>
            </a:r>
            <a:r>
              <a:rPr lang="en-US" sz="1300" b="1" dirty="0">
                <a:solidFill>
                  <a:srgbClr val="333F70"/>
                </a:solidFill>
                <a:ea typeface="Unbounded Bold" pitchFamily="34" charset="-122"/>
              </a:rPr>
              <a:t>RAM</a:t>
            </a:r>
            <a:endParaRPr lang="en-US" sz="13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9BDCE73-313A-8AEF-274C-FAF713CB3B24}"/>
              </a:ext>
            </a:extLst>
          </p:cNvPr>
          <p:cNvSpPr/>
          <p:nvPr/>
        </p:nvSpPr>
        <p:spPr>
          <a:xfrm>
            <a:off x="2832129" y="4257604"/>
            <a:ext cx="220920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b="1" dirty="0">
                <a:solidFill>
                  <a:srgbClr val="333F70"/>
                </a:solidFill>
                <a:ea typeface="Unbounded Bold" pitchFamily="34" charset="-122"/>
              </a:rPr>
              <a:t>Схема изменения координат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411"/>
            <a:ext cx="73881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Схемы DataScreen и Keyboard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7758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DataScreen — дисплей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06902" y="1524670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33F70"/>
                </a:solidFill>
                <a:ea typeface="Open Sans" pitchFamily="34" charset="-122"/>
                <a:cs typeface="Open Sans" pitchFamily="34" charset="-120"/>
              </a:rPr>
              <a:t>Преобразует двоичные координаты змеи и яблока в сигналы для матрицы 16×16. Каждый пиксель загорается, если его позиция совпадает с координатой объекта.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3088258"/>
            <a:ext cx="24002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ea typeface="Unbounded Bold" pitchFamily="34" charset="-122"/>
              </a:rPr>
              <a:t>Update Screen – </a:t>
            </a:r>
            <a:r>
              <a:rPr lang="ru-RU" sz="1350" b="1" dirty="0">
                <a:solidFill>
                  <a:srgbClr val="333F70"/>
                </a:solidFill>
                <a:ea typeface="Unbounded Bold" pitchFamily="34" charset="-122"/>
              </a:rPr>
              <a:t>обновление дисплея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8" y="3451473"/>
            <a:ext cx="2774619" cy="1535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rgbClr val="002060"/>
                </a:solidFill>
                <a:cs typeface="Times New Roman" panose="02020603050405020304" pitchFamily="18" charset="0"/>
              </a:rPr>
              <a:t>UpdateScreen</a:t>
            </a:r>
            <a:r>
              <a:rPr lang="en-US" sz="1300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2060"/>
                </a:solidFill>
                <a:cs typeface="Times New Roman" panose="02020603050405020304" pitchFamily="18" charset="0"/>
              </a:rPr>
              <a:t>нужна как отдельная схема, т.к это позволяет обновлять </a:t>
            </a:r>
            <a:r>
              <a:rPr lang="ru-RU" sz="1300" dirty="0" err="1">
                <a:solidFill>
                  <a:srgbClr val="002060"/>
                </a:solidFill>
                <a:cs typeface="Times New Roman" panose="02020603050405020304" pitchFamily="18" charset="0"/>
              </a:rPr>
              <a:t>DataScreen</a:t>
            </a:r>
            <a:r>
              <a:rPr lang="ru-RU" sz="1300" dirty="0">
                <a:solidFill>
                  <a:srgbClr val="002060"/>
                </a:solidFill>
                <a:cs typeface="Times New Roman" panose="02020603050405020304" pitchFamily="18" charset="0"/>
              </a:rPr>
              <a:t> в любой момент, а на экран выводить всё синхронно за один такт — без мерцания</a:t>
            </a:r>
          </a:p>
          <a:p>
            <a:endParaRPr lang="ru-RU" sz="19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072" y="1227758"/>
            <a:ext cx="4704904" cy="14309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20FF36-66EB-49CD-F538-C104C81F8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50" y="4768505"/>
            <a:ext cx="1790950" cy="3143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4EEDF0-4DFC-2879-4D3A-2D90E190B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547" y="3451473"/>
            <a:ext cx="4143953" cy="809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471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Схема CDM-8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080790"/>
            <a:ext cx="4416326" cy="3512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87329" y="1080791"/>
            <a:ext cx="2765240" cy="7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Подключение процессора к Logisim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87329" y="1669256"/>
            <a:ext cx="2765240" cy="99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Схема </a:t>
            </a: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CDM-8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обеспечивает интерфейс между процессором </a:t>
            </a:r>
            <a:r>
              <a:rPr lang="en-US" sz="1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CDM-8 Mark 4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аппаратной частью в Logisim. Через неё процессор: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0554" y="2760241"/>
            <a:ext cx="2900227" cy="99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Читает направление движения из памяти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Записывает новые координаты головы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Получает сигналы от клавиатуры</a:t>
            </a:r>
            <a:endParaRPr lang="en-US" sz="12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Управляет генерацией яблок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0555" y="4207817"/>
            <a:ext cx="2662014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ключевой мост между software и hardware уровнями проекта.</a:t>
            </a:r>
            <a:endParaRPr lang="en-US" sz="1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376AF7-4EFB-665B-192D-E7D0647F8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50" y="4829131"/>
            <a:ext cx="1790950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7964" y="275555"/>
            <a:ext cx="4784675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Программная часть (Software)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07964" y="945580"/>
            <a:ext cx="4841874" cy="62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Программа на ассемблере CMD8 реализует всю игровую логику. Она выполняется на процессоре CDM-8 Mark 4 и взаимодействует с аппаратными схемами через шину данных.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5162" y="1656904"/>
            <a:ext cx="6698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65162" y="1823293"/>
            <a:ext cx="478467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465162" y="1905000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Move Head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5162" y="2118866"/>
            <a:ext cx="52418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Вычисление новых координат головы по текущему направлению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5162" y="2427089"/>
            <a:ext cx="6698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5162" y="2593479"/>
            <a:ext cx="478467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1" name="Text 8"/>
          <p:cNvSpPr/>
          <p:nvPr/>
        </p:nvSpPr>
        <p:spPr>
          <a:xfrm>
            <a:off x="465162" y="2675186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Move Tail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5162" y="2889052"/>
            <a:ext cx="52418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Сдвиг хвоста змеи; при поимке яблока — пропуск удаления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5162" y="3197275"/>
            <a:ext cx="6698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5162" y="3363664"/>
            <a:ext cx="478467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5" name="Text 12"/>
          <p:cNvSpPr/>
          <p:nvPr/>
        </p:nvSpPr>
        <p:spPr>
          <a:xfrm>
            <a:off x="465162" y="3445371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Spawn Apple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5162" y="3659237"/>
            <a:ext cx="52418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Генерация новых координат яблока в свободной клетке поля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5162" y="3967460"/>
            <a:ext cx="6698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5162" y="4133850"/>
            <a:ext cx="478467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465162" y="4215557"/>
            <a:ext cx="218889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ea typeface="Unbounded Bold" pitchFamily="34" charset="-122"/>
                <a:cs typeface="Unbounded Bold" pitchFamily="34" charset="-120"/>
              </a:rPr>
              <a:t>Load / Take Direction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07964" y="4461198"/>
            <a:ext cx="524187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Чтение направления из памяти и запись результата обратно</a:t>
            </a:r>
            <a:endParaRPr lang="en-US" sz="12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C86D233-85E8-D28B-5516-425C496459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965"/>
          <a:stretch/>
        </p:blipFill>
        <p:spPr>
          <a:xfrm>
            <a:off x="5809615" y="1149459"/>
            <a:ext cx="2511425" cy="321754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9D2FFFD-F6FB-EF77-CFB0-B8BB87122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327" y="4610026"/>
            <a:ext cx="2086266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F2F81D-700C-8D74-79BF-2AEAB4977D06}"/>
              </a:ext>
            </a:extLst>
          </p:cNvPr>
          <p:cNvSpPr/>
          <p:nvPr/>
        </p:nvSpPr>
        <p:spPr>
          <a:xfrm>
            <a:off x="2447403" y="133733"/>
            <a:ext cx="4784675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050" b="1" dirty="0">
                <a:solidFill>
                  <a:srgbClr val="333F70"/>
                </a:solidFill>
                <a:ea typeface="Unbounded Bold" pitchFamily="34" charset="-122"/>
              </a:rPr>
              <a:t>Взаимодействие </a:t>
            </a:r>
            <a:r>
              <a:rPr lang="en-US" sz="2050" b="1" dirty="0">
                <a:solidFill>
                  <a:srgbClr val="333F70"/>
                </a:solidFill>
                <a:ea typeface="Unbounded Bold" pitchFamily="34" charset="-122"/>
              </a:rPr>
              <a:t>Software </a:t>
            </a:r>
            <a:r>
              <a:rPr lang="ru-RU" sz="2050" b="1" dirty="0">
                <a:solidFill>
                  <a:srgbClr val="333F70"/>
                </a:solidFill>
                <a:ea typeface="Unbounded Bold" pitchFamily="34" charset="-122"/>
              </a:rPr>
              <a:t>и </a:t>
            </a:r>
            <a:r>
              <a:rPr lang="en-US" sz="2050" b="1" dirty="0">
                <a:solidFill>
                  <a:srgbClr val="333F70"/>
                </a:solidFill>
                <a:ea typeface="Unbounded Bold" pitchFamily="34" charset="-122"/>
              </a:rPr>
              <a:t>Hardware</a:t>
            </a:r>
            <a:endParaRPr lang="en-US" sz="205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97954D-A6C7-5B33-A560-D0B6F9B9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81" y="1448226"/>
            <a:ext cx="4027003" cy="297782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C86B20C-02C7-BF40-80C1-289EDAFA39E6}"/>
              </a:ext>
            </a:extLst>
          </p:cNvPr>
          <p:cNvSpPr/>
          <p:nvPr/>
        </p:nvSpPr>
        <p:spPr>
          <a:xfrm>
            <a:off x="337625" y="717453"/>
            <a:ext cx="4066884" cy="789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04000"/>
              </a:lnSpc>
            </a:pPr>
            <a:r>
              <a:rPr lang="ru-RU" sz="1500" b="1" dirty="0">
                <a:solidFill>
                  <a:srgbClr val="002060"/>
                </a:solidFill>
                <a:ea typeface="Unbounded Bold" pitchFamily="34" charset="-122"/>
              </a:rPr>
              <a:t>Таблица адресов</a:t>
            </a:r>
            <a:r>
              <a:rPr lang="en-US" sz="1350" b="1" dirty="0">
                <a:solidFill>
                  <a:srgbClr val="002060"/>
                </a:solidFill>
                <a:ea typeface="Unbounded Bold" pitchFamily="34" charset="-122"/>
              </a:rPr>
              <a:t>:</a:t>
            </a:r>
            <a:r>
              <a:rPr lang="ru-RU" sz="1350" b="1" dirty="0">
                <a:solidFill>
                  <a:srgbClr val="002060"/>
                </a:solidFill>
                <a:ea typeface="Unbounded Bold" pitchFamily="34" charset="-122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Программа общается со схемами через порты ввода-вывода</a:t>
            </a:r>
            <a:r>
              <a:rPr lang="en-US" sz="14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(memory-mapped I/O). </a:t>
            </a:r>
            <a:r>
              <a:rPr lang="ru-RU" sz="14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Каждый адрес </a:t>
            </a:r>
            <a:r>
              <a:rPr lang="en-US" sz="14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ru-RU" sz="14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конкретная команда или запрос.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ru-RU" sz="1350" b="1" dirty="0">
                <a:solidFill>
                  <a:srgbClr val="333F70"/>
                </a:solidFill>
                <a:ea typeface="Unbounded Bold" pitchFamily="34" charset="-122"/>
              </a:rPr>
              <a:t> </a:t>
            </a:r>
            <a:endParaRPr lang="en-US" sz="13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A8DC22-DA96-1619-B4D9-CA04425C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978" y="580202"/>
            <a:ext cx="3046261" cy="32884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1FD95F-482F-6FF9-F063-C338A6D57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921" y="3900614"/>
            <a:ext cx="4041079" cy="8289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3D0435-67DB-307E-6AF0-D4DCB532F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839" y="4724342"/>
            <a:ext cx="1867161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33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864355-844C-B8D1-4163-A7E684E5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365" y="4619552"/>
            <a:ext cx="2038635" cy="52394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742C639-D39F-279C-3285-65FEAF283D24}"/>
              </a:ext>
            </a:extLst>
          </p:cNvPr>
          <p:cNvSpPr/>
          <p:nvPr/>
        </p:nvSpPr>
        <p:spPr>
          <a:xfrm>
            <a:off x="2431607" y="221918"/>
            <a:ext cx="467375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600" b="1" dirty="0">
                <a:solidFill>
                  <a:srgbClr val="002060"/>
                </a:solidFill>
              </a:rPr>
              <a:t>Спасибо за внимание</a:t>
            </a:r>
            <a:endParaRPr lang="en-US" sz="3600" b="1" dirty="0">
              <a:solidFill>
                <a:srgbClr val="002060"/>
              </a:solidFill>
              <a:latin typeface="Unbounded Bold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8175C1-35EE-D167-1797-FF5D529B5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72" r="3919"/>
          <a:stretch/>
        </p:blipFill>
        <p:spPr>
          <a:xfrm>
            <a:off x="700170" y="1237771"/>
            <a:ext cx="4255477" cy="3179377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BA2F2918-3558-4629-8226-8527CCB56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352" y="1561221"/>
            <a:ext cx="2532478" cy="253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96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703</Words>
  <Application>Microsoft Office PowerPoint</Application>
  <PresentationFormat>Экран (16:9)</PresentationFormat>
  <Paragraphs>109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Times New Roman</vt:lpstr>
      <vt:lpstr>Unbounded Light</vt:lpstr>
      <vt:lpstr>Arial</vt:lpstr>
      <vt:lpstr>Unbounded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Костя Баландин</cp:lastModifiedBy>
  <cp:revision>12</cp:revision>
  <dcterms:created xsi:type="dcterms:W3CDTF">2026-05-19T09:59:45Z</dcterms:created>
  <dcterms:modified xsi:type="dcterms:W3CDTF">2026-05-20T07:15:17Z</dcterms:modified>
</cp:coreProperties>
</file>